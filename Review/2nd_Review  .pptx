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5" r:id="rId3"/>
    <p:sldId id="268" r:id="rId4"/>
    <p:sldId id="269" r:id="rId5"/>
    <p:sldId id="270"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060F4-452C-4446-8769-C81E472F69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2929CC-A5BF-2058-E2CD-EBD4B25F0A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C4F2C8-A00F-9ACF-AA7A-6251D312BD80}"/>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5" name="Footer Placeholder 4">
            <a:extLst>
              <a:ext uri="{FF2B5EF4-FFF2-40B4-BE49-F238E27FC236}">
                <a16:creationId xmlns:a16="http://schemas.microsoft.com/office/drawing/2014/main" id="{6156931F-4840-3A1A-C525-C0643A7969A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AB12F48-6F11-0513-8BAE-2246967B7152}"/>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114701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B667-4F9D-2407-A82A-999950E7EF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385CAC-8DCB-167C-C238-193BEEB5A4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7B2BF4-A33B-B54C-F792-AC99CE3F6CE7}"/>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5" name="Footer Placeholder 4">
            <a:extLst>
              <a:ext uri="{FF2B5EF4-FFF2-40B4-BE49-F238E27FC236}">
                <a16:creationId xmlns:a16="http://schemas.microsoft.com/office/drawing/2014/main" id="{17AB1598-BE3D-43C8-3A37-931418F17C9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61DCDF5-1326-E1D3-B08B-4CA5FF9FB6C3}"/>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1862161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7D9E-1DBE-7367-96AC-5890FAFC3D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06E62C-09CA-C51F-2453-9F1E0C9CF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256CB-C251-25F9-AE69-FAEA9DB233AA}"/>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5" name="Footer Placeholder 4">
            <a:extLst>
              <a:ext uri="{FF2B5EF4-FFF2-40B4-BE49-F238E27FC236}">
                <a16:creationId xmlns:a16="http://schemas.microsoft.com/office/drawing/2014/main" id="{9CB7863E-C882-3AFE-431B-980D3BC0501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B04F227-9E57-6575-0ABE-25AEEDC330E5}"/>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352286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1FD1C-A0C3-8E7A-4883-D5453DFBC3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A6B386-C8CF-F739-F72C-F767094065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413B1A-8223-8502-F220-6D13FE29DF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72A079-D96D-7492-472C-D22752F5E63A}"/>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6" name="Footer Placeholder 5">
            <a:extLst>
              <a:ext uri="{FF2B5EF4-FFF2-40B4-BE49-F238E27FC236}">
                <a16:creationId xmlns:a16="http://schemas.microsoft.com/office/drawing/2014/main" id="{E3E4A522-37EF-D19E-FD47-1E030792B1D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50190D0-5718-7114-51F4-F7AEAB9F4AE7}"/>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53112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4191-A765-0D45-8B3E-B9C4F0F0CD1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9276AE-287E-E5C9-5CE6-E4948B0835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1790AC-1C3D-EDD4-7D82-823F88012D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84DBF2-52AB-C38F-622F-9F17D9965E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32F899-7625-9FEC-D545-A6675291C4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629D3E-2E00-A795-2E6F-248371EF77B4}"/>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8" name="Footer Placeholder 7">
            <a:extLst>
              <a:ext uri="{FF2B5EF4-FFF2-40B4-BE49-F238E27FC236}">
                <a16:creationId xmlns:a16="http://schemas.microsoft.com/office/drawing/2014/main" id="{C382ED25-24EB-B13A-9BC2-8B3E94525087}"/>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7B15750D-4760-0DA0-EC67-57B9AE49A070}"/>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342652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31409-BBC7-4FB1-4452-4F8DC9D93F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7458E0-780E-DFDA-3B74-FFA597A1D1B0}"/>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4" name="Footer Placeholder 3">
            <a:extLst>
              <a:ext uri="{FF2B5EF4-FFF2-40B4-BE49-F238E27FC236}">
                <a16:creationId xmlns:a16="http://schemas.microsoft.com/office/drawing/2014/main" id="{B1E2A35F-A70F-F4C5-880A-EEE8A51B133F}"/>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9D215537-C387-6F70-4905-CFF2FE0FB0DD}"/>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576661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426FA5-E063-0CED-7C60-DB666E39809B}"/>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3" name="Footer Placeholder 2">
            <a:extLst>
              <a:ext uri="{FF2B5EF4-FFF2-40B4-BE49-F238E27FC236}">
                <a16:creationId xmlns:a16="http://schemas.microsoft.com/office/drawing/2014/main" id="{A48BA9FC-779A-2DB8-9909-9F101F35516C}"/>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04AE7A58-29F7-E60E-1B58-D748A03B94E4}"/>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304040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59D4-B2AA-8D73-4BC6-A137CA43B0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3857E7-0667-377A-085E-30610ECE8E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EC92C0-3318-315D-95B9-0F75F1FF4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9ECB10-29D5-1EB7-7307-8A1511C5A449}"/>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6" name="Footer Placeholder 5">
            <a:extLst>
              <a:ext uri="{FF2B5EF4-FFF2-40B4-BE49-F238E27FC236}">
                <a16:creationId xmlns:a16="http://schemas.microsoft.com/office/drawing/2014/main" id="{E6A21C7F-582E-DA50-640A-AF110CEB5A7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5A7BE6A4-E70A-3E0C-F9A3-515267BE848E}"/>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3284139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8ADC-D819-0F48-AE9E-25603583BD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1532B4-DFF2-2CF7-AD11-28EA04D985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2DC63C06-F1D9-E4E8-74B5-2A18A8546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9D2063-4505-9154-4ADD-74168AE1FF3A}"/>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6" name="Footer Placeholder 5">
            <a:extLst>
              <a:ext uri="{FF2B5EF4-FFF2-40B4-BE49-F238E27FC236}">
                <a16:creationId xmlns:a16="http://schemas.microsoft.com/office/drawing/2014/main" id="{EB3A8CB5-A41C-BA4E-71ED-719696998890}"/>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8A85981-D274-24CD-D412-74ACC0DD961C}"/>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3419739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CF02-7FDB-935E-0448-806013B14F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237403-9424-AA56-E29E-2D74381062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AE67FA-BF95-E165-AFE6-98F40723A96E}"/>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5" name="Footer Placeholder 4">
            <a:extLst>
              <a:ext uri="{FF2B5EF4-FFF2-40B4-BE49-F238E27FC236}">
                <a16:creationId xmlns:a16="http://schemas.microsoft.com/office/drawing/2014/main" id="{28F7FD14-62E4-4F17-FF47-48AFD5A8317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F0830C0-F77C-F44C-2A9F-DE5E8E79D37F}"/>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2538222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764AB9-7856-017F-EE49-01C817F40F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D0B80C-7AAF-CA14-D62A-D36FAD0D7F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9CFC52-9485-6E46-B229-7801DC980487}"/>
              </a:ext>
            </a:extLst>
          </p:cNvPr>
          <p:cNvSpPr>
            <a:spLocks noGrp="1"/>
          </p:cNvSpPr>
          <p:nvPr>
            <p:ph type="dt" sz="half" idx="10"/>
          </p:nvPr>
        </p:nvSpPr>
        <p:spPr/>
        <p:txBody>
          <a:bodyPr/>
          <a:lstStyle/>
          <a:p>
            <a:fld id="{341787AB-F6F6-4A0D-B6C9-50DC40A09E4A}" type="datetimeFigureOut">
              <a:rPr lang="en-IN" smtClean="0"/>
              <a:t>12-09-2026</a:t>
            </a:fld>
            <a:endParaRPr lang="en-IN" dirty="0"/>
          </a:p>
        </p:txBody>
      </p:sp>
      <p:sp>
        <p:nvSpPr>
          <p:cNvPr id="5" name="Footer Placeholder 4">
            <a:extLst>
              <a:ext uri="{FF2B5EF4-FFF2-40B4-BE49-F238E27FC236}">
                <a16:creationId xmlns:a16="http://schemas.microsoft.com/office/drawing/2014/main" id="{12351E62-D389-B7C0-FF5B-021C07B6E32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C8CDCDE-A6F4-D44F-2619-3D1519F8BB86}"/>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259167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ED1C3-C406-51D9-BF6B-2D57E4E7B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2ECD11-705B-D96F-1B2D-473F25DF01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A36A12-345A-BF10-786C-791D864438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1787AB-F6F6-4A0D-B6C9-50DC40A09E4A}" type="datetimeFigureOut">
              <a:rPr lang="en-IN" smtClean="0"/>
              <a:t>12-09-2026</a:t>
            </a:fld>
            <a:endParaRPr lang="en-IN" dirty="0"/>
          </a:p>
        </p:txBody>
      </p:sp>
      <p:sp>
        <p:nvSpPr>
          <p:cNvPr id="5" name="Footer Placeholder 4">
            <a:extLst>
              <a:ext uri="{FF2B5EF4-FFF2-40B4-BE49-F238E27FC236}">
                <a16:creationId xmlns:a16="http://schemas.microsoft.com/office/drawing/2014/main" id="{CB68EDD1-6CDD-7CC4-1113-13DD25A72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9753BBC0-C51C-9AB0-4148-245B63392F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6103BE-7330-4E9A-AA54-937BBCDF3AA8}" type="slidenum">
              <a:rPr lang="en-IN" smtClean="0"/>
              <a:t>‹#›</a:t>
            </a:fld>
            <a:endParaRPr lang="en-IN" dirty="0"/>
          </a:p>
        </p:txBody>
      </p:sp>
    </p:spTree>
    <p:extLst>
      <p:ext uri="{BB962C8B-B14F-4D97-AF65-F5344CB8AC3E}">
        <p14:creationId xmlns:p14="http://schemas.microsoft.com/office/powerpoint/2010/main" val="3064426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publicdomainpictures.net/en/view-image.php?image=228270&amp;picture=thank-you"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641C5BF-C0EF-0299-9CDE-EF61BCFBD350}"/>
              </a:ext>
            </a:extLst>
          </p:cNvPr>
          <p:cNvSpPr/>
          <p:nvPr/>
        </p:nvSpPr>
        <p:spPr>
          <a:xfrm>
            <a:off x="401483" y="512359"/>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4" name="TextBox 3">
            <a:extLst>
              <a:ext uri="{FF2B5EF4-FFF2-40B4-BE49-F238E27FC236}">
                <a16:creationId xmlns:a16="http://schemas.microsoft.com/office/drawing/2014/main" id="{72974E99-F5B0-AA92-C10A-776F44B3A75F}"/>
              </a:ext>
            </a:extLst>
          </p:cNvPr>
          <p:cNvSpPr txBox="1"/>
          <p:nvPr/>
        </p:nvSpPr>
        <p:spPr>
          <a:xfrm>
            <a:off x="471948" y="717755"/>
            <a:ext cx="11090787"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Sardar Raja College Of Engineering</a:t>
            </a:r>
            <a:endParaRPr lang="en-IN" sz="3200" b="1" dirty="0"/>
          </a:p>
        </p:txBody>
      </p:sp>
      <p:sp>
        <p:nvSpPr>
          <p:cNvPr id="5" name="TextBox 4">
            <a:extLst>
              <a:ext uri="{FF2B5EF4-FFF2-40B4-BE49-F238E27FC236}">
                <a16:creationId xmlns:a16="http://schemas.microsoft.com/office/drawing/2014/main" id="{898CCC73-235F-494D-8B37-80DEE75BF63F}"/>
              </a:ext>
            </a:extLst>
          </p:cNvPr>
          <p:cNvSpPr txBox="1"/>
          <p:nvPr/>
        </p:nvSpPr>
        <p:spPr>
          <a:xfrm>
            <a:off x="562077" y="1546731"/>
            <a:ext cx="11090787" cy="1953868"/>
          </a:xfrm>
          <a:prstGeom prst="rect">
            <a:avLst/>
          </a:prstGeom>
          <a:noFill/>
        </p:spPr>
        <p:txBody>
          <a:bodyPr wrap="square" rtlCol="0">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Department Of Artificial Intelligence and Data Science</a:t>
            </a:r>
          </a:p>
          <a:p>
            <a:pPr algn="ctr">
              <a:lnSpc>
                <a:spcPct val="150000"/>
              </a:lnSpc>
            </a:pPr>
            <a:r>
              <a:rPr lang="en-US" sz="2800" dirty="0">
                <a:latin typeface="Times New Roman" panose="02020603050405020304" pitchFamily="18" charset="0"/>
                <a:cs typeface="Times New Roman" panose="02020603050405020304" pitchFamily="18" charset="0"/>
              </a:rPr>
              <a:t>AI-Powered Intelligent Software Development Assistant Using Large Language Models</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211973F-594C-CBC9-6BEF-79702F1CF8CE}"/>
              </a:ext>
            </a:extLst>
          </p:cNvPr>
          <p:cNvSpPr txBox="1"/>
          <p:nvPr/>
        </p:nvSpPr>
        <p:spPr>
          <a:xfrm>
            <a:off x="562077" y="4405934"/>
            <a:ext cx="5201265" cy="1052660"/>
          </a:xfrm>
          <a:prstGeom prst="rect">
            <a:avLst/>
          </a:prstGeom>
          <a:noFill/>
        </p:spPr>
        <p:txBody>
          <a:bodyPr wrap="square" rtlCol="0">
            <a:spAutoFit/>
          </a:bodyPr>
          <a:lstStyle/>
          <a:p>
            <a:pPr>
              <a:lnSpc>
                <a:spcPct val="150000"/>
              </a:lnSpc>
            </a:pPr>
            <a:r>
              <a:rPr lang="en-IN" sz="2400" b="1" dirty="0">
                <a:latin typeface="Times New Roman" panose="02020603050405020304" pitchFamily="18" charset="0"/>
                <a:cs typeface="Times New Roman" panose="02020603050405020304" pitchFamily="18" charset="0"/>
              </a:rPr>
              <a:t>Guide name :</a:t>
            </a:r>
            <a:br>
              <a:rPr lang="en-IN" sz="24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Prof. N.Sindhu AP/AI&amp;DS</a:t>
            </a:r>
          </a:p>
        </p:txBody>
      </p:sp>
      <p:sp>
        <p:nvSpPr>
          <p:cNvPr id="7" name="TextBox 6">
            <a:extLst>
              <a:ext uri="{FF2B5EF4-FFF2-40B4-BE49-F238E27FC236}">
                <a16:creationId xmlns:a16="http://schemas.microsoft.com/office/drawing/2014/main" id="{05EB3D25-5F85-DA89-7920-866FD494A2EF}"/>
              </a:ext>
            </a:extLst>
          </p:cNvPr>
          <p:cNvSpPr txBox="1"/>
          <p:nvPr/>
        </p:nvSpPr>
        <p:spPr>
          <a:xfrm>
            <a:off x="6789173" y="4424937"/>
            <a:ext cx="5024285" cy="193899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TEAM MEMBERS:</a:t>
            </a:r>
          </a:p>
          <a:p>
            <a:r>
              <a:rPr lang="en-IN" sz="2000" dirty="0">
                <a:latin typeface="Times New Roman" panose="02020603050405020304" pitchFamily="18" charset="0"/>
                <a:cs typeface="Times New Roman" panose="02020603050405020304" pitchFamily="18" charset="0"/>
              </a:rPr>
              <a:t>M.Adlin mercy   – 952723243002</a:t>
            </a:r>
          </a:p>
          <a:p>
            <a:r>
              <a:rPr lang="en-IN" sz="2000" dirty="0">
                <a:latin typeface="Times New Roman" panose="02020603050405020304" pitchFamily="18" charset="0"/>
                <a:ea typeface="Calibri" panose="020F0502020204030204" pitchFamily="34" charset="0"/>
                <a:cs typeface="Times New Roman" panose="02020603050405020304" pitchFamily="18" charset="0"/>
              </a:rPr>
              <a:t>A.Anusuya          </a:t>
            </a:r>
            <a:r>
              <a:rPr lang="en-IN"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952723243005</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M.Mahalakshmi – 952723243017</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13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CBFD1-8FAD-E929-98A2-7BEF3B0B64D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AD9C4E-83F4-F61C-4803-B68FFD6E9ACC}"/>
              </a:ext>
            </a:extLst>
          </p:cNvPr>
          <p:cNvSpPr/>
          <p:nvPr/>
        </p:nvSpPr>
        <p:spPr>
          <a:xfrm>
            <a:off x="550605" y="42121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E4C77B98-CE21-B425-D703-C822E712912C}"/>
              </a:ext>
            </a:extLst>
          </p:cNvPr>
          <p:cNvSpPr txBox="1"/>
          <p:nvPr/>
        </p:nvSpPr>
        <p:spPr>
          <a:xfrm>
            <a:off x="1258528" y="1081000"/>
            <a:ext cx="9674941" cy="5242782"/>
          </a:xfrm>
          <a:prstGeom prst="rect">
            <a:avLst/>
          </a:prstGeom>
          <a:noFill/>
        </p:spPr>
        <p:txBody>
          <a:bodyPr wrap="square" rtlCol="0">
            <a:spAutoFit/>
          </a:bodyPr>
          <a:lstStyle/>
          <a:p>
            <a:pPr algn="ctr">
              <a:lnSpc>
                <a:spcPct val="250000"/>
              </a:lnSpc>
            </a:pPr>
            <a:r>
              <a:rPr lang="en-US" sz="2400" b="1" dirty="0">
                <a:latin typeface="Times New Roman" panose="02020603050405020304" pitchFamily="18" charset="0"/>
                <a:cs typeface="Times New Roman" panose="02020603050405020304" pitchFamily="18" charset="0"/>
              </a:rPr>
              <a:t>Existing System</a:t>
            </a:r>
          </a:p>
          <a:p>
            <a:pPr algn="just">
              <a:lnSpc>
                <a:spcPct val="250000"/>
              </a:lnSpc>
            </a:pPr>
            <a:r>
              <a:rPr lang="en-US" dirty="0">
                <a:latin typeface="Times New Roman" panose="02020603050405020304" pitchFamily="18" charset="0"/>
                <a:cs typeface="Times New Roman" panose="02020603050405020304" pitchFamily="18" charset="0"/>
              </a:rPr>
              <a:t>     Existing  AI software development assistants use Large Language Models (LLMs) to support developers mainly in coding activities such as code generation, code completion, code explanation, and debugging. These tools help developers write code faster and solve common programming problems. However, most existing systems focus mainly on individual coding tasks rather than providing support throughout the complete software development process.</a:t>
            </a:r>
          </a:p>
          <a:p>
            <a:pPr algn="just">
              <a:lnSpc>
                <a:spcPct val="2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198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1E2D4-373D-6BC1-FDCF-F5E001FF010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3530222-4E63-E85D-CF94-75C7A65CB6EA}"/>
              </a:ext>
            </a:extLst>
          </p:cNvPr>
          <p:cNvSpPr/>
          <p:nvPr/>
        </p:nvSpPr>
        <p:spPr>
          <a:xfrm>
            <a:off x="550605" y="42121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9F553FF4-4F75-4764-61C1-CD847E09511B}"/>
              </a:ext>
            </a:extLst>
          </p:cNvPr>
          <p:cNvSpPr txBox="1"/>
          <p:nvPr/>
        </p:nvSpPr>
        <p:spPr>
          <a:xfrm>
            <a:off x="1258528" y="1081000"/>
            <a:ext cx="9674941" cy="5242782"/>
          </a:xfrm>
          <a:prstGeom prst="rect">
            <a:avLst/>
          </a:prstGeom>
          <a:noFill/>
        </p:spPr>
        <p:txBody>
          <a:bodyPr wrap="square" rtlCol="0">
            <a:spAutoFit/>
          </a:bodyPr>
          <a:lstStyle/>
          <a:p>
            <a:pPr algn="ctr">
              <a:lnSpc>
                <a:spcPct val="250000"/>
              </a:lnSpc>
            </a:pPr>
            <a:r>
              <a:rPr lang="en-US" sz="2400" b="1" dirty="0">
                <a:latin typeface="Times New Roman" panose="02020603050405020304" pitchFamily="18" charset="0"/>
                <a:cs typeface="Times New Roman" panose="02020603050405020304" pitchFamily="18" charset="0"/>
              </a:rPr>
              <a:t>Disadvantages</a:t>
            </a:r>
            <a:r>
              <a:rPr lang="en-US" dirty="0">
                <a:latin typeface="Times New Roman" panose="02020603050405020304" pitchFamily="18" charset="0"/>
                <a:cs typeface="Times New Roman" panose="02020603050405020304" pitchFamily="18" charset="0"/>
              </a:rPr>
              <a:t> </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AI-generated code may contain errors or security vulnerabilities. </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Requirements may not be fully understood by the AI assistant. </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Limited support for the complete software development lifecycle. </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Developers may need to use multiple tools for different tasks. </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Code quality and maintainability may not always be properly evaluated. </a:t>
            </a:r>
          </a:p>
          <a:p>
            <a:pPr algn="just">
              <a:lnSpc>
                <a:spcPct val="250000"/>
              </a:lnSpc>
            </a:pPr>
            <a:endParaRPr lang="en-US" dirty="0">
              <a:latin typeface="Times New Roman" panose="02020603050405020304" pitchFamily="18" charset="0"/>
              <a:cs typeface="Times New Roman" panose="02020603050405020304" pitchFamily="18" charset="0"/>
            </a:endParaRPr>
          </a:p>
          <a:p>
            <a:pPr algn="just">
              <a:lnSpc>
                <a:spcPct val="2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6580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80A37-36AD-AFE3-5D1C-A6356B0F54D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4FF5737-14A0-B956-17E5-6A7A7165FFD4}"/>
              </a:ext>
            </a:extLst>
          </p:cNvPr>
          <p:cNvSpPr/>
          <p:nvPr/>
        </p:nvSpPr>
        <p:spPr>
          <a:xfrm>
            <a:off x="550605" y="42121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0D6CABA4-3A2F-68C3-5A0C-0CB080EF65B8}"/>
              </a:ext>
            </a:extLst>
          </p:cNvPr>
          <p:cNvSpPr txBox="1"/>
          <p:nvPr/>
        </p:nvSpPr>
        <p:spPr>
          <a:xfrm>
            <a:off x="1258528" y="1081000"/>
            <a:ext cx="9674941" cy="5242782"/>
          </a:xfrm>
          <a:prstGeom prst="rect">
            <a:avLst/>
          </a:prstGeom>
          <a:noFill/>
        </p:spPr>
        <p:txBody>
          <a:bodyPr wrap="square" rtlCol="0">
            <a:spAutoFit/>
          </a:bodyPr>
          <a:lstStyle/>
          <a:p>
            <a:pPr algn="ctr">
              <a:lnSpc>
                <a:spcPct val="250000"/>
              </a:lnSpc>
            </a:pPr>
            <a:r>
              <a:rPr lang="en-US" sz="2400" b="1" dirty="0">
                <a:latin typeface="Times New Roman" panose="02020603050405020304" pitchFamily="18" charset="0"/>
                <a:cs typeface="Times New Roman" panose="02020603050405020304" pitchFamily="18" charset="0"/>
              </a:rPr>
              <a:t>Proposed System</a:t>
            </a:r>
          </a:p>
          <a:p>
            <a:pPr algn="just">
              <a:lnSpc>
                <a:spcPct val="250000"/>
              </a:lnSpc>
            </a:pPr>
            <a:r>
              <a:rPr lang="en-US" dirty="0">
                <a:latin typeface="Times New Roman" panose="02020603050405020304" pitchFamily="18" charset="0"/>
                <a:cs typeface="Times New Roman" panose="02020603050405020304" pitchFamily="18" charset="0"/>
              </a:rPr>
              <a:t> The proposed system is an intelligent software development assistant that uses Large Language Models to support developers throughout different stages of software development. It analyzes software requirements, generates code, detects and explains errors, suggests fixes, reviews code quality, generates test cases, and creates technical documentation. By integrating these functions into a single platform, </a:t>
            </a:r>
            <a:r>
              <a:rPr lang="en-US" dirty="0" err="1">
                <a:latin typeface="Times New Roman" panose="02020603050405020304" pitchFamily="18" charset="0"/>
                <a:cs typeface="Times New Roman" panose="02020603050405020304" pitchFamily="18" charset="0"/>
              </a:rPr>
              <a:t>DevCore</a:t>
            </a:r>
            <a:r>
              <a:rPr lang="en-US" dirty="0">
                <a:latin typeface="Times New Roman" panose="02020603050405020304" pitchFamily="18" charset="0"/>
                <a:cs typeface="Times New Roman" panose="02020603050405020304" pitchFamily="18" charset="0"/>
              </a:rPr>
              <a:t> AI aims to make software development faster, easier, and more reliable.</a:t>
            </a:r>
          </a:p>
          <a:p>
            <a:pPr algn="just">
              <a:lnSpc>
                <a:spcPct val="2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1320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0353A-47E9-18BB-3ECD-1A3014976F1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A294A62-4B89-4DC7-E650-E617B282ADCF}"/>
              </a:ext>
            </a:extLst>
          </p:cNvPr>
          <p:cNvSpPr/>
          <p:nvPr/>
        </p:nvSpPr>
        <p:spPr>
          <a:xfrm>
            <a:off x="550605" y="42121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15579DAE-0DAD-D9BC-9283-42558870C570}"/>
              </a:ext>
            </a:extLst>
          </p:cNvPr>
          <p:cNvSpPr txBox="1"/>
          <p:nvPr/>
        </p:nvSpPr>
        <p:spPr>
          <a:xfrm>
            <a:off x="1258528" y="1081000"/>
            <a:ext cx="9674941" cy="5796780"/>
          </a:xfrm>
          <a:prstGeom prst="rect">
            <a:avLst/>
          </a:prstGeom>
          <a:noFill/>
        </p:spPr>
        <p:txBody>
          <a:bodyPr wrap="square" rtlCol="0">
            <a:spAutoFit/>
          </a:bodyPr>
          <a:lstStyle/>
          <a:p>
            <a:pPr algn="ctr">
              <a:lnSpc>
                <a:spcPct val="250000"/>
              </a:lnSpc>
            </a:pPr>
            <a:r>
              <a:rPr lang="en-US" sz="2400" b="1"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Reduces coding errors and development time. </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Provides requirement analysis and clarification. </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Detects errors and suggests possible fixes. </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Improves code quality, security, and maintainability. </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Generates test cases and technical documentation. </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Provides multiple development-support features in a single platform. </a:t>
            </a:r>
          </a:p>
          <a:p>
            <a:pPr algn="just">
              <a:lnSpc>
                <a:spcPct val="250000"/>
              </a:lnSpc>
            </a:pPr>
            <a:endParaRPr lang="en-US" dirty="0">
              <a:latin typeface="Times New Roman" panose="02020603050405020304" pitchFamily="18" charset="0"/>
              <a:cs typeface="Times New Roman" panose="02020603050405020304" pitchFamily="18" charset="0"/>
            </a:endParaRPr>
          </a:p>
          <a:p>
            <a:pPr algn="just">
              <a:lnSpc>
                <a:spcPct val="2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3774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54D3-B954-64CE-574B-A94C8BBC7BC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D55FE2-2D9D-5139-DF89-69E09FF124CB}"/>
              </a:ext>
            </a:extLst>
          </p:cNvPr>
          <p:cNvSpPr/>
          <p:nvPr/>
        </p:nvSpPr>
        <p:spPr>
          <a:xfrm>
            <a:off x="550606" y="530942"/>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 name="Picture 4">
            <a:extLst>
              <a:ext uri="{FF2B5EF4-FFF2-40B4-BE49-F238E27FC236}">
                <a16:creationId xmlns:a16="http://schemas.microsoft.com/office/drawing/2014/main" id="{A1A4F0F3-26DA-B46C-322C-7F05F96C149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469372" y="2231489"/>
            <a:ext cx="7253255" cy="2468763"/>
          </a:xfrm>
          <a:prstGeom prst="rect">
            <a:avLst/>
          </a:prstGeom>
        </p:spPr>
      </p:pic>
    </p:spTree>
    <p:extLst>
      <p:ext uri="{BB962C8B-B14F-4D97-AF65-F5344CB8AC3E}">
        <p14:creationId xmlns:p14="http://schemas.microsoft.com/office/powerpoint/2010/main" val="4279553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TotalTime>
  <Words>306</Words>
  <Application>Microsoft Office PowerPoint</Application>
  <PresentationFormat>Widescreen</PresentationFormat>
  <Paragraphs>24</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priannam789@gmail.com</dc:creator>
  <cp:lastModifiedBy>adlin mercy</cp:lastModifiedBy>
  <cp:revision>10</cp:revision>
  <dcterms:created xsi:type="dcterms:W3CDTF">2026-07-09T15:38:17Z</dcterms:created>
  <dcterms:modified xsi:type="dcterms:W3CDTF">2026-09-12T15:39:27Z</dcterms:modified>
</cp:coreProperties>
</file>